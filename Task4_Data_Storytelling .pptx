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9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Revenue Share by Customer Segment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062E39EA-D39D-B468-2870-C6776A3F38A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6601746" cy="4458322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8862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114800" cy="41148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02" y="812902"/>
            <a:ext cx="294437" cy="2944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286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· DATA STORYTELLING &amp; STATISTICAL VALIDATION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65176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Sales Data to Business Decisions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narrative connecting KPIs, customer segmentation, and statistical hypothesis testing to actionable business recommendations.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Software Pvt. Ltd.  |  Sales Analytics Internship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synthesize all prior analysis into a single, compelling business narrative — and use statistical methods to validate the key findings before they reach decision-makers.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4FAF9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6060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3" y="275417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91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the Story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KPIs and dashboard findings into a clear narrative: objective, analysis, conclusion, call to action.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233172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4FAF9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6060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853" y="275417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291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 Stakeholders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7720" y="36576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concise, visual presentation deck that communicates business impact, not just numbers.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233172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4FAF9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6060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9173" y="275417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291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Statistics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21040" y="36576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a hypothesis and run a statistical test to confirm findings are real, not random noise.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So Far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of findings from Parts 1–3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0B2E3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0992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₹139.40M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0B2E3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70992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1,043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0B2E33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70992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₹139.40K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75320" y="2377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narrative threads: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is the clear revenue leader, far ahead of other categories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fairly distributed across cities, with Patna and Hyderabad slightly ahead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show seasonal peaks rather than steady linear growth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 is nearly even, with female customers contributing marginally more revenue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Deep-Dive: Customer Segmentation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Which customer segments drive the most revenue?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571934330"/>
              </p:ext>
            </p:extLst>
          </p:nvPr>
        </p:nvGraphicFramePr>
        <p:xfrm>
          <a:off x="640080" y="1600200"/>
          <a:ext cx="5669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67512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75120" y="201168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Top 20% of customers (High Value) generate 46.8% of total revenue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Medium Value customers contribute 35.0% of revenue, the next biggest share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Low Value segment, though largest in count, contributes only 18.1% of revenue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75120" y="4114800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0B2E33"/>
          </a:solidFill>
          <a:ln/>
        </p:spPr>
      </p:sp>
      <p:sp>
        <p:nvSpPr>
          <p:cNvPr id="8" name="Text 5"/>
          <p:cNvSpPr/>
          <p:nvPr/>
        </p:nvSpPr>
        <p:spPr>
          <a:xfrm>
            <a:off x="6903720" y="42062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prioritize retention offers and loyalty programs for the High Value segment.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statistical rigor to a business observation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68" y="1781708"/>
            <a:ext cx="231343" cy="2313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Hypothesis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F4FAF9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14884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High Value customer segment has a significantly higher Average Order Value than the rest of the customer base.”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33756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3474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(Null)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38404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significant difference in AOV between High Value and other customers.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333756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63640" y="3474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(Alternative)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63640" y="38404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customers have a significantly higher AOV than other customers.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4846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selected: Independent samples T-test (comparing mean AOV of two groups)  ·  Significance level: α = 0.05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Results &amp; Interpretation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133B41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087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42.43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340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133B4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5087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0.001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0" y="2240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133B41"/>
          </a:solidFill>
          <a:ln/>
        </p:spPr>
      </p:sp>
      <p:sp>
        <p:nvSpPr>
          <p:cNvPr id="10" name="Text 8"/>
          <p:cNvSpPr/>
          <p:nvPr/>
        </p:nvSpPr>
        <p:spPr>
          <a:xfrm>
            <a:off x="8275320" y="15087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[222.9K,244.5K]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75320" y="2240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(diff.)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68" y="3107588"/>
            <a:ext cx="231343" cy="23134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2588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Reject H₀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352044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 &lt; 0.001, the difference in Average Order Value between the High Value segment (₹326.3K avg) and other customers (₹92.7K avg) is statistically significant at the 5% level — not due to random chance.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4434840"/>
            <a:ext cx="10424160" cy="640080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4348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takeaway: the High Value segment is a statistically validated, distinct group worth dedicated strategy.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Call to 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4FAF9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459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3" y="1794053"/>
            <a:ext cx="252374" cy="2523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286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High-Value Customers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14400" y="27432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loyalty program for the top segment to protect 45% of revenue concentration.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4FAF9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7720" y="16459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853" y="1794053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286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Electronics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617720" y="27432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inventory and marketing spend for the highest-revenue category.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467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4FAF9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21040" y="16459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9173" y="1794053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2286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Seasonal Dips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321040" y="27432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targeted promotions during historically low-revenue months.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3794760"/>
            <a:ext cx="10424160" cy="914400"/>
          </a:xfrm>
          <a:prstGeom prst="roundRect">
            <a:avLst>
              <a:gd name="adj" fmla="val 10000"/>
            </a:avLst>
          </a:prstGeom>
          <a:solidFill>
            <a:srgbClr val="0B2E33"/>
          </a:solidFill>
          <a:ln/>
        </p:spPr>
      </p:sp>
      <p:sp>
        <p:nvSpPr>
          <p:cNvPr id="19" name="Text 14"/>
          <p:cNvSpPr/>
          <p:nvPr/>
        </p:nvSpPr>
        <p:spPr>
          <a:xfrm>
            <a:off x="914400" y="37947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pilot a High-Value loyalty offer for 90 days and re-measure AOV and retention against this baseline.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2743200"/>
            <a:ext cx="4572000" cy="457200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849755" y="2726055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548</Words>
  <Application>Microsoft Office PowerPoint</Application>
  <PresentationFormat>Widescreen</PresentationFormat>
  <Paragraphs>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 Storytelling &amp; Statistical Validation</dc:title>
  <dc:subject>PptxGenJS Presentation</dc:subject>
  <dc:creator>Intern</dc:creator>
  <cp:lastModifiedBy>Naga Vyshnavi A</cp:lastModifiedBy>
  <cp:revision>2</cp:revision>
  <dcterms:created xsi:type="dcterms:W3CDTF">2026-06-21T11:58:15Z</dcterms:created>
  <dcterms:modified xsi:type="dcterms:W3CDTF">2026-06-21T13:03:59Z</dcterms:modified>
</cp:coreProperties>
</file>